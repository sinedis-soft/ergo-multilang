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39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2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62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27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35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94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9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5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019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102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96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23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628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167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2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Стратегия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 </a:t>
            </a:r>
            <a:r>
              <a:rPr dirty="0" err="1"/>
              <a:t>международной</a:t>
            </a:r>
            <a:r>
              <a:rPr dirty="0"/>
              <a:t> </a:t>
            </a:r>
            <a:r>
              <a:rPr dirty="0" err="1"/>
              <a:t>страховой</a:t>
            </a:r>
            <a:r>
              <a:rPr dirty="0"/>
              <a:t> </a:t>
            </a:r>
            <a:r>
              <a:rPr dirty="0" err="1"/>
              <a:t>группы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70156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Cross-border insurance ecosystem</a:t>
            </a:r>
          </a:p>
          <a:p>
            <a:r>
              <a:rPr dirty="0" err="1"/>
              <a:t>Польша</a:t>
            </a:r>
            <a:r>
              <a:rPr dirty="0"/>
              <a:t> • </a:t>
            </a:r>
            <a:r>
              <a:rPr dirty="0" err="1"/>
              <a:t>Грузия</a:t>
            </a:r>
            <a:r>
              <a:rPr dirty="0"/>
              <a:t> • </a:t>
            </a:r>
            <a:r>
              <a:rPr dirty="0" err="1"/>
              <a:t>Казахстан</a:t>
            </a:r>
            <a:r>
              <a:rPr dirty="0"/>
              <a:t> • </a:t>
            </a:r>
            <a:r>
              <a:rPr dirty="0" err="1"/>
              <a:t>Латвия</a:t>
            </a:r>
            <a:endParaRPr dirty="0"/>
          </a:p>
          <a:p>
            <a:r>
              <a:rPr dirty="0" err="1"/>
              <a:t>Фокус</a:t>
            </a:r>
            <a:r>
              <a:rPr dirty="0"/>
              <a:t>: </a:t>
            </a:r>
            <a:r>
              <a:rPr dirty="0" err="1"/>
              <a:t>международная</a:t>
            </a:r>
            <a:r>
              <a:rPr dirty="0"/>
              <a:t> </a:t>
            </a:r>
            <a:r>
              <a:rPr dirty="0" err="1"/>
              <a:t>логистика</a:t>
            </a:r>
            <a:r>
              <a:rPr dirty="0"/>
              <a:t> и </a:t>
            </a:r>
            <a:r>
              <a:rPr dirty="0" err="1"/>
              <a:t>трансграничное</a:t>
            </a:r>
            <a:r>
              <a:rPr dirty="0"/>
              <a:t> </a:t>
            </a:r>
            <a:r>
              <a:rPr dirty="0" err="1"/>
              <a:t>страхование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dirty="0" err="1"/>
              <a:t>Стратегическая</a:t>
            </a:r>
            <a:r>
              <a:rPr dirty="0"/>
              <a:t> </a:t>
            </a:r>
            <a:r>
              <a:rPr dirty="0" err="1"/>
              <a:t>презентация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Текущая структура группы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ТОО «</a:t>
            </a:r>
            <a:r>
              <a:rPr dirty="0" err="1"/>
              <a:t>Дионис</a:t>
            </a:r>
            <a:r>
              <a:rPr dirty="0"/>
              <a:t>» — </a:t>
            </a:r>
            <a:r>
              <a:rPr dirty="0" err="1"/>
              <a:t>Казахстан</a:t>
            </a:r>
            <a:endParaRPr dirty="0"/>
          </a:p>
          <a:p>
            <a:pPr>
              <a:defRPr sz="2200"/>
            </a:pPr>
            <a:r>
              <a:rPr dirty="0"/>
              <a:t>DEDA — </a:t>
            </a:r>
            <a:r>
              <a:rPr dirty="0" err="1"/>
              <a:t>Грузия</a:t>
            </a:r>
            <a:endParaRPr dirty="0"/>
          </a:p>
          <a:p>
            <a:pPr>
              <a:defRPr sz="2200"/>
            </a:pPr>
            <a:r>
              <a:rPr dirty="0"/>
              <a:t>SINEDIS — </a:t>
            </a:r>
            <a:r>
              <a:rPr dirty="0" err="1"/>
              <a:t>Польша</a:t>
            </a:r>
            <a:endParaRPr dirty="0"/>
          </a:p>
          <a:p>
            <a:pPr>
              <a:defRPr sz="2200"/>
            </a:pPr>
            <a:r>
              <a:rPr dirty="0"/>
              <a:t>ERGO Latvia — </a:t>
            </a:r>
            <a:r>
              <a:rPr dirty="0" err="1"/>
              <a:t>Латвия</a:t>
            </a:r>
            <a:endParaRPr dirty="0"/>
          </a:p>
          <a:p>
            <a:pPr marL="0" indent="0">
              <a:buNone/>
              <a:defRPr sz="2200"/>
            </a:pP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специализация</a:t>
            </a:r>
            <a:r>
              <a:rPr dirty="0"/>
              <a:t>: Green Card, border insurance, ОСАГО РФ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группы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продаж</a:t>
            </a:r>
            <a:endParaRPr dirty="0"/>
          </a:p>
          <a:p>
            <a:pPr>
              <a:defRPr sz="2200"/>
            </a:pP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отдельных</a:t>
            </a:r>
            <a:r>
              <a:rPr dirty="0"/>
              <a:t> </a:t>
            </a:r>
            <a:r>
              <a:rPr dirty="0" err="1"/>
              <a:t>людей</a:t>
            </a:r>
            <a:endParaRPr dirty="0"/>
          </a:p>
          <a:p>
            <a:pPr>
              <a:defRPr sz="2200"/>
            </a:pP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lang="ru-RU" dirty="0"/>
              <a:t>менеджера по продажам</a:t>
            </a:r>
            <a:endParaRPr dirty="0"/>
          </a:p>
          <a:p>
            <a:pPr>
              <a:defRPr sz="2200"/>
            </a:pPr>
            <a:r>
              <a:rPr dirty="0" err="1"/>
              <a:t>Медленная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лидов</a:t>
            </a:r>
            <a:endParaRPr lang="ru-RU" dirty="0"/>
          </a:p>
          <a:p>
            <a:pPr>
              <a:defRPr sz="2200"/>
            </a:pPr>
            <a:r>
              <a:rPr lang="ru-RU" dirty="0"/>
              <a:t>Отсутствие устойчивой выручки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сильные стороны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Международная</a:t>
            </a:r>
            <a:r>
              <a:rPr dirty="0"/>
              <a:t> </a:t>
            </a:r>
            <a:r>
              <a:rPr dirty="0" err="1"/>
              <a:t>специализация</a:t>
            </a:r>
            <a:endParaRPr dirty="0"/>
          </a:p>
          <a:p>
            <a:pPr>
              <a:defRPr sz="22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логистики</a:t>
            </a:r>
            <a:r>
              <a:rPr dirty="0"/>
              <a:t> СНГ / ЕС</a:t>
            </a:r>
          </a:p>
          <a:p>
            <a:pPr>
              <a:defRPr sz="2200"/>
            </a:pPr>
            <a:r>
              <a:rPr dirty="0"/>
              <a:t>Cross-border </a:t>
            </a:r>
            <a:r>
              <a:rPr dirty="0" err="1"/>
              <a:t>экспертиза</a:t>
            </a:r>
            <a:endParaRPr dirty="0"/>
          </a:p>
          <a:p>
            <a:pPr>
              <a:defRPr sz="2200"/>
            </a:pPr>
            <a:r>
              <a:rPr dirty="0" err="1"/>
              <a:t>Низкий</a:t>
            </a:r>
            <a:r>
              <a:rPr dirty="0"/>
              <a:t> </a:t>
            </a:r>
            <a:r>
              <a:rPr lang="ru-RU" dirty="0"/>
              <a:t>уровень накладных расходов</a:t>
            </a:r>
            <a:endParaRPr dirty="0"/>
          </a:p>
          <a:p>
            <a:pPr>
              <a:defRPr sz="2200"/>
            </a:pPr>
            <a:r>
              <a:rPr dirty="0" err="1"/>
              <a:t>Высокий</a:t>
            </a:r>
            <a:r>
              <a:rPr dirty="0"/>
              <a:t> </a:t>
            </a:r>
            <a:r>
              <a:rPr dirty="0" err="1"/>
              <a:t>потенциал</a:t>
            </a:r>
            <a:r>
              <a:rPr dirty="0"/>
              <a:t> </a:t>
            </a:r>
            <a:r>
              <a:rPr dirty="0" err="1"/>
              <a:t>автоматизации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Стратегический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Развивать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компаний</a:t>
            </a:r>
            <a:endParaRPr dirty="0"/>
          </a:p>
          <a:p>
            <a:pPr>
              <a:defRPr sz="2200"/>
            </a:pPr>
            <a:r>
              <a:rPr dirty="0"/>
              <a:t>А </a:t>
            </a:r>
            <a:r>
              <a:rPr dirty="0" err="1"/>
              <a:t>единую</a:t>
            </a:r>
            <a:r>
              <a:rPr dirty="0"/>
              <a:t> </a:t>
            </a:r>
            <a:r>
              <a:rPr lang="ru-RU" dirty="0"/>
              <a:t>международную страховую инфраструктуру</a:t>
            </a:r>
            <a:endParaRPr dirty="0"/>
          </a:p>
          <a:p>
            <a:pPr>
              <a:defRPr sz="2200"/>
            </a:pPr>
            <a:r>
              <a:rPr lang="ru-RU" dirty="0"/>
              <a:t>Централизация процессов при сохранении локальных продаж</a:t>
            </a:r>
          </a:p>
          <a:p>
            <a:pPr>
              <a:defRPr sz="2200"/>
            </a:pPr>
            <a:r>
              <a:rPr lang="ru-RU" dirty="0"/>
              <a:t>Модель, основанная на приоритете продаж и поддерживаемая цифровыми технологиями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ru-RU" dirty="0"/>
              <a:t>Единый операционный центр</a:t>
            </a:r>
          </a:p>
          <a:p>
            <a:pPr>
              <a:defRPr sz="2200"/>
            </a:pPr>
            <a:r>
              <a:rPr lang="ru-RU" dirty="0"/>
              <a:t>Локальные представительства в странах присутствия</a:t>
            </a:r>
          </a:p>
          <a:p>
            <a:pPr>
              <a:defRPr sz="2200"/>
            </a:pPr>
            <a:r>
              <a:rPr lang="ru-RU" dirty="0"/>
              <a:t>Единая CRM-система и Bitrix24</a:t>
            </a:r>
          </a:p>
          <a:p>
            <a:pPr>
              <a:defRPr sz="2200"/>
            </a:pPr>
            <a:r>
              <a:rPr lang="ru-RU" dirty="0"/>
              <a:t>Общие специалисты по сопровождению и продлению договоров</a:t>
            </a:r>
          </a:p>
          <a:p>
            <a:pPr>
              <a:defRPr sz="2200"/>
            </a:pPr>
            <a:r>
              <a:rPr lang="ru-RU" dirty="0"/>
              <a:t>Локальные B2B-продажи клиентам и партнёрам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Продуктовое ядро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Green Card</a:t>
            </a:r>
          </a:p>
          <a:p>
            <a:pPr>
              <a:defRPr sz="2200"/>
            </a:pPr>
            <a:r>
              <a:t>Border insurance</a:t>
            </a:r>
          </a:p>
          <a:p>
            <a:pPr>
              <a:defRPr sz="2200"/>
            </a:pPr>
            <a:r>
              <a:t>ОСАГО РФ</a:t>
            </a:r>
          </a:p>
          <a:p>
            <a:pPr>
              <a:defRPr sz="2200"/>
            </a:pPr>
            <a:r>
              <a:t>Cargo insurance</a:t>
            </a:r>
          </a:p>
          <a:p>
            <a:pPr>
              <a:defRPr sz="2200"/>
            </a:pPr>
            <a:r>
              <a:t>Ответственность перевозчиков</a:t>
            </a:r>
          </a:p>
          <a:p>
            <a:pPr>
              <a:defRPr sz="2200"/>
            </a:pPr>
            <a:r>
              <a:t>Fleet / transit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НЕ рекомендуется 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ru-RU" dirty="0"/>
              <a:t>Не создавать крупные офисные структуры</a:t>
            </a:r>
          </a:p>
          <a:p>
            <a:pPr>
              <a:defRPr sz="2200"/>
            </a:pPr>
            <a:r>
              <a:rPr lang="ru-RU" dirty="0"/>
              <a:t>Не выстраивать избыточный управленческий аппарат</a:t>
            </a:r>
          </a:p>
          <a:p>
            <a:pPr>
              <a:defRPr sz="2200"/>
            </a:pPr>
            <a:r>
              <a:rPr lang="ru-RU" dirty="0"/>
              <a:t>Не распыляться на массовый рынок</a:t>
            </a:r>
          </a:p>
          <a:p>
            <a:pPr>
              <a:defRPr sz="2200"/>
            </a:pPr>
            <a:r>
              <a:rPr lang="ru-RU" dirty="0"/>
              <a:t>Не строить IT вместо продаж</a:t>
            </a:r>
            <a:endParaRPr lang="pl-PL" dirty="0"/>
          </a:p>
          <a:p>
            <a:pPr>
              <a:defRPr sz="2200"/>
            </a:pPr>
            <a:r>
              <a:rPr lang="ru-RU" dirty="0"/>
              <a:t>Не увеличивать постоянные расходы раньше появления устойчивой выручки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Приоритет</a:t>
            </a:r>
            <a:r>
              <a:rPr dirty="0"/>
              <a:t> №1 — </a:t>
            </a:r>
            <a:r>
              <a:rPr lang="ru-RU" dirty="0"/>
              <a:t>Система продаж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Найм</a:t>
            </a:r>
            <a:r>
              <a:rPr dirty="0"/>
              <a:t> B2B </a:t>
            </a:r>
            <a:r>
              <a:rPr lang="ru-RU" dirty="0" err="1"/>
              <a:t>продажников</a:t>
            </a:r>
            <a:endParaRPr dirty="0"/>
          </a:p>
          <a:p>
            <a:pPr>
              <a:defRPr sz="2200"/>
            </a:pPr>
            <a:r>
              <a:rPr dirty="0" err="1"/>
              <a:t>Локальные</a:t>
            </a:r>
            <a:r>
              <a:rPr dirty="0"/>
              <a:t> </a:t>
            </a:r>
            <a:r>
              <a:rPr dirty="0" err="1"/>
              <a:t>встречи</a:t>
            </a:r>
            <a:endParaRPr dirty="0"/>
          </a:p>
          <a:p>
            <a:pPr>
              <a:defRPr sz="2200"/>
            </a:pPr>
            <a:r>
              <a:rPr dirty="0" err="1"/>
              <a:t>Развитие</a:t>
            </a:r>
            <a:r>
              <a:rPr dirty="0"/>
              <a:t> </a:t>
            </a:r>
            <a:r>
              <a:rPr lang="ru-RU" dirty="0"/>
              <a:t>партнерской сети</a:t>
            </a:r>
            <a:endParaRPr dirty="0"/>
          </a:p>
          <a:p>
            <a:pPr>
              <a:defRPr sz="2200"/>
            </a:pPr>
            <a:r>
              <a:rPr lang="ru-RU" dirty="0"/>
              <a:t>Регламент обработки входящих заявок и Стандарты времени обработки заявок</a:t>
            </a:r>
          </a:p>
          <a:p>
            <a:pPr>
              <a:defRPr sz="2200"/>
            </a:pPr>
            <a:r>
              <a:rPr lang="ru-RU" dirty="0"/>
              <a:t>Единая ответственность за качество ведения CRM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Приоритет</a:t>
            </a:r>
            <a:r>
              <a:rPr dirty="0"/>
              <a:t> №2 — </a:t>
            </a:r>
            <a:r>
              <a:rPr lang="ru-RU" dirty="0"/>
              <a:t>Партнёрская сеть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Логисты</a:t>
            </a:r>
            <a:endParaRPr dirty="0"/>
          </a:p>
          <a:p>
            <a:pPr>
              <a:defRPr sz="2200"/>
            </a:pPr>
            <a:r>
              <a:rPr dirty="0" err="1"/>
              <a:t>Таможенные</a:t>
            </a:r>
            <a:r>
              <a:rPr dirty="0"/>
              <a:t> </a:t>
            </a:r>
            <a:r>
              <a:rPr dirty="0" err="1"/>
              <a:t>брокеры</a:t>
            </a:r>
            <a:endParaRPr dirty="0"/>
          </a:p>
          <a:p>
            <a:pPr>
              <a:defRPr sz="2200"/>
            </a:pPr>
            <a:r>
              <a:rPr dirty="0" err="1"/>
              <a:t>Транспортные</a:t>
            </a:r>
            <a:r>
              <a:rPr dirty="0"/>
              <a:t> </a:t>
            </a:r>
            <a:r>
              <a:rPr dirty="0" err="1"/>
              <a:t>ассоциации</a:t>
            </a:r>
            <a:endParaRPr dirty="0"/>
          </a:p>
          <a:p>
            <a:pPr>
              <a:defRPr sz="2200"/>
            </a:pPr>
            <a:r>
              <a:rPr dirty="0" err="1"/>
              <a:t>Сервисы</a:t>
            </a:r>
            <a:r>
              <a:rPr dirty="0"/>
              <a:t> </a:t>
            </a:r>
            <a:r>
              <a:rPr dirty="0" err="1"/>
              <a:t>перевозчиков</a:t>
            </a:r>
            <a:endParaRPr dirty="0"/>
          </a:p>
          <a:p>
            <a:pPr>
              <a:defRPr sz="2200"/>
            </a:pPr>
            <a:r>
              <a:rPr dirty="0" err="1"/>
              <a:t>Миграционные</a:t>
            </a:r>
            <a:r>
              <a:rPr dirty="0"/>
              <a:t> </a:t>
            </a:r>
            <a:r>
              <a:rPr dirty="0" err="1"/>
              <a:t>сервисы</a:t>
            </a:r>
            <a:endParaRPr lang="ru-RU" dirty="0"/>
          </a:p>
          <a:p>
            <a:pPr>
              <a:defRPr sz="2200"/>
            </a:pPr>
            <a:r>
              <a:rPr lang="ru-RU" dirty="0"/>
              <a:t>Свободные страховые агенты в сфере автострахования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Приоритет №3 — Автоматизация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Bitrix24</a:t>
            </a:r>
          </a:p>
          <a:p>
            <a:pPr>
              <a:defRPr sz="2200"/>
            </a:pPr>
            <a:r>
              <a:rPr dirty="0" err="1"/>
              <a:t>Клиентские</a:t>
            </a:r>
            <a:r>
              <a:rPr dirty="0"/>
              <a:t> </a:t>
            </a:r>
            <a:r>
              <a:rPr dirty="0" err="1"/>
              <a:t>кабинеты</a:t>
            </a:r>
            <a:r>
              <a:rPr lang="ru-RU" dirty="0"/>
              <a:t> – портал для клиентов со всеми нашими видами страхования</a:t>
            </a:r>
            <a:endParaRPr dirty="0"/>
          </a:p>
          <a:p>
            <a:pPr>
              <a:defRPr sz="2200"/>
            </a:pPr>
            <a:r>
              <a:rPr dirty="0" err="1"/>
              <a:t>Партнёрские</a:t>
            </a:r>
            <a:r>
              <a:rPr dirty="0"/>
              <a:t> </a:t>
            </a:r>
            <a:r>
              <a:rPr dirty="0" err="1"/>
              <a:t>кабинеты</a:t>
            </a:r>
            <a:r>
              <a:rPr lang="ru-RU" dirty="0"/>
              <a:t> – портал для партнеров с возможностью делать заявку для клиентов, отслеживания своего КВ и прочих показателей</a:t>
            </a:r>
            <a:endParaRPr dirty="0"/>
          </a:p>
          <a:p>
            <a:pPr>
              <a:defRPr sz="2200"/>
            </a:pPr>
            <a:r>
              <a:rPr dirty="0"/>
              <a:t>Telegram automation</a:t>
            </a:r>
            <a:r>
              <a:rPr lang="ru-RU" dirty="0"/>
              <a:t> – упрощенные порталы клиентов и партнеров в телеге</a:t>
            </a:r>
            <a:endParaRPr dirty="0"/>
          </a:p>
          <a:p>
            <a:pPr>
              <a:defRPr sz="2200"/>
            </a:pP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с </a:t>
            </a:r>
            <a:r>
              <a:rPr dirty="0" err="1"/>
              <a:t>подтверждённым</a:t>
            </a:r>
            <a:r>
              <a:rPr dirty="0"/>
              <a:t> revenue</a:t>
            </a:r>
            <a:r>
              <a:rPr lang="ru-RU" dirty="0"/>
              <a:t> (приносящие деньги)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отдельных</a:t>
            </a:r>
            <a:r>
              <a:rPr dirty="0"/>
              <a:t> </a:t>
            </a:r>
            <a:r>
              <a:rPr dirty="0" err="1"/>
              <a:t>людей</a:t>
            </a:r>
            <a:endParaRPr dirty="0"/>
          </a:p>
          <a:p>
            <a:pPr>
              <a:defRPr sz="2200"/>
            </a:pP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клиентов</a:t>
            </a:r>
            <a:endParaRPr dirty="0"/>
          </a:p>
          <a:p>
            <a:pPr>
              <a:defRPr sz="2200"/>
            </a:pP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lang="ru-RU" dirty="0" err="1"/>
              <a:t>продажника</a:t>
            </a:r>
            <a:endParaRPr dirty="0"/>
          </a:p>
          <a:p>
            <a:pPr>
              <a:defRPr sz="2200"/>
            </a:pP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фокуса</a:t>
            </a:r>
            <a:endParaRPr dirty="0"/>
          </a:p>
          <a:p>
            <a:pPr>
              <a:defRPr sz="2200"/>
            </a:pPr>
            <a:r>
              <a:rPr lang="ru-RU" dirty="0"/>
              <a:t>Рост постоянных расходов без формирования выручки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Целевая 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Международная</a:t>
            </a:r>
            <a:r>
              <a:rPr dirty="0"/>
              <a:t> B2B-платформа</a:t>
            </a:r>
          </a:p>
          <a:p>
            <a:pPr>
              <a:defRPr sz="2200"/>
            </a:pPr>
            <a:r>
              <a:rPr dirty="0" err="1"/>
              <a:t>Логистика</a:t>
            </a:r>
            <a:r>
              <a:rPr dirty="0"/>
              <a:t> СНГ / </a:t>
            </a:r>
            <a:r>
              <a:rPr dirty="0" err="1"/>
              <a:t>Кавказ</a:t>
            </a:r>
            <a:r>
              <a:rPr dirty="0"/>
              <a:t> / </a:t>
            </a:r>
            <a:r>
              <a:rPr dirty="0" err="1"/>
              <a:t>Центральная</a:t>
            </a:r>
            <a:r>
              <a:rPr dirty="0"/>
              <a:t> </a:t>
            </a:r>
            <a:r>
              <a:rPr dirty="0" err="1"/>
              <a:t>Азия</a:t>
            </a:r>
            <a:r>
              <a:rPr dirty="0"/>
              <a:t> / ЕС</a:t>
            </a:r>
          </a:p>
          <a:p>
            <a:pPr>
              <a:defRPr sz="2200"/>
            </a:pPr>
            <a:r>
              <a:rPr dirty="0" err="1"/>
              <a:t>Централизованные</a:t>
            </a:r>
            <a:r>
              <a:rPr dirty="0"/>
              <a:t> </a:t>
            </a:r>
            <a:r>
              <a:rPr dirty="0" err="1"/>
              <a:t>операции</a:t>
            </a:r>
            <a:endParaRPr dirty="0"/>
          </a:p>
          <a:p>
            <a:pPr>
              <a:defRPr sz="2200"/>
            </a:pPr>
            <a:r>
              <a:rPr dirty="0" err="1"/>
              <a:t>Локальные</a:t>
            </a:r>
            <a:r>
              <a:rPr dirty="0"/>
              <a:t> </a:t>
            </a:r>
            <a:r>
              <a:rPr dirty="0" err="1"/>
              <a:t>продажи</a:t>
            </a:r>
            <a:endParaRPr dirty="0"/>
          </a:p>
          <a:p>
            <a:pPr>
              <a:defRPr sz="2200"/>
            </a:pPr>
            <a:r>
              <a:rPr dirty="0" err="1"/>
              <a:t>Минимальный</a:t>
            </a:r>
            <a:r>
              <a:rPr dirty="0"/>
              <a:t> </a:t>
            </a:r>
            <a:r>
              <a:rPr lang="ru-RU" dirty="0"/>
              <a:t>уровень постоянных расходов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Дорожная карта на</a:t>
            </a:r>
            <a:r>
              <a:rPr dirty="0"/>
              <a:t> 12–24 </a:t>
            </a:r>
            <a:r>
              <a:rPr dirty="0" err="1"/>
              <a:t>месяца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lang="ru-RU" dirty="0"/>
              <a:t>0–6 месяцев: построение продаж, внедрение стандартов обработки заявок и развитие партнёрской сети.</a:t>
            </a:r>
          </a:p>
          <a:p>
            <a:pPr>
              <a:defRPr sz="2200"/>
            </a:pPr>
            <a:endParaRPr lang="ru-RU" dirty="0"/>
          </a:p>
          <a:p>
            <a:pPr>
              <a:defRPr sz="2200"/>
            </a:pPr>
            <a:r>
              <a:rPr lang="ru-RU" dirty="0"/>
              <a:t>6–12 месяцев: формирование локального присутствия на ключевых рынках.</a:t>
            </a:r>
          </a:p>
          <a:p>
            <a:pPr>
              <a:defRPr sz="2200"/>
            </a:pPr>
            <a:endParaRPr lang="ru-RU" dirty="0"/>
          </a:p>
          <a:p>
            <a:pPr>
              <a:defRPr sz="2200"/>
            </a:pPr>
            <a:r>
              <a:rPr lang="ru-RU" dirty="0"/>
              <a:t>12–24 месяца: масштабирование бизнеса и автоматизация процессов.</a:t>
            </a:r>
          </a:p>
          <a:p>
            <a:pPr>
              <a:defRPr sz="2200"/>
            </a:pPr>
            <a:endParaRPr lang="ru-RU" dirty="0"/>
          </a:p>
          <a:p>
            <a:pPr>
              <a:defRPr sz="2200"/>
            </a:pPr>
            <a:r>
              <a:rPr lang="ru-RU" dirty="0"/>
              <a:t>Переход к воспроизводимой и устойчивой бизнес-модели.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Заключение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задача — построение устойчивой системы генерации выручки.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актив группы — экспертиза в международном страховании и трансграничных операциях.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 к росту: B2B-сегмент, логистика и автоматизация процессов.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развития — нишевая специализация вместо работы на массовом рынке.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Стратегическая презентация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</TotalTime>
  <Words>461</Words>
  <Application>Microsoft Office PowerPoint</Application>
  <PresentationFormat>Экран 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Garamond</vt:lpstr>
      <vt:lpstr>Times New Roman</vt:lpstr>
      <vt:lpstr>Натуральные материалы</vt:lpstr>
      <vt:lpstr>Стратегия развития международной страховой группы</vt:lpstr>
      <vt:lpstr>Текущая структура группы</vt:lpstr>
      <vt:lpstr>Общая проблема группы</vt:lpstr>
      <vt:lpstr>Ключевые сильные стороны</vt:lpstr>
      <vt:lpstr>Стратегический вывод</vt:lpstr>
      <vt:lpstr>Рекомендуемая архитектура</vt:lpstr>
      <vt:lpstr>Продуктовое ядро</vt:lpstr>
      <vt:lpstr>Что НЕ рекомендуется делать</vt:lpstr>
      <vt:lpstr>Приоритет №1 — Система продаж</vt:lpstr>
      <vt:lpstr>Приоритет №2 — Партнёрская сеть</vt:lpstr>
      <vt:lpstr>Приоритет №3 — Автоматизация</vt:lpstr>
      <vt:lpstr>Основные риски</vt:lpstr>
      <vt:lpstr>Целевая модель</vt:lpstr>
      <vt:lpstr>Дорожная карта на 12–24 месяца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развития международной страховой группы</dc:title>
  <dc:subject/>
  <dc:creator/>
  <cp:keywords/>
  <dc:description>generated using python-pptx</dc:description>
  <cp:lastModifiedBy>Ludmila</cp:lastModifiedBy>
  <cp:revision>2</cp:revision>
  <dcterms:created xsi:type="dcterms:W3CDTF">2013-01-27T09:14:16Z</dcterms:created>
  <dcterms:modified xsi:type="dcterms:W3CDTF">2026-05-07T08:43:51Z</dcterms:modified>
  <cp:category/>
</cp:coreProperties>
</file>